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68" r:id="rId8"/>
    <p:sldId id="259" r:id="rId9"/>
    <p:sldId id="260" r:id="rId10"/>
    <p:sldId id="267" r:id="rId11"/>
    <p:sldId id="261" r:id="rId12"/>
    <p:sldId id="262" r:id="rId13"/>
    <p:sldId id="265" r:id="rId14"/>
    <p:sldId id="266" r:id="rId15"/>
    <p:sldId id="263" r:id="rId16"/>
    <p:sldId id="264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385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3560" y="0"/>
            <a:ext cx="6400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62356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MPMC PROJECT — B.TECH COMPUTER ENGINEERING | SEM IV 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Arduino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· RSI · Bollinger Bands · MACD  |  ATmega2560 Edge Computing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74720"/>
            <a:ext cx="512064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661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 (B296)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Prof. Sachin Sonawane  |  SVKM's NMIMS MPSTME Shirpur  |  AY 2025–26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548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822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Microprocessor &amp;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06440" y="1691640"/>
            <a:ext cx="1417320" cy="384048"/>
          </a:xfrm>
          <a:prstGeom prst="rect">
            <a:avLst/>
          </a:prstGeom>
          <a:solidFill>
            <a:srgbClr val="0A0E1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6916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702CO0C072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0" y="1691640"/>
            <a:ext cx="1417320" cy="384048"/>
          </a:xfrm>
          <a:prstGeom prst="rect">
            <a:avLst/>
          </a:prstGeom>
          <a:solidFill>
            <a:srgbClr val="0A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6916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06440" y="2286000"/>
            <a:ext cx="1417320" cy="384048"/>
          </a:xfrm>
          <a:prstGeom prst="rect">
            <a:avLst/>
          </a:prstGeom>
          <a:solidFill>
            <a:srgbClr val="0A0E1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286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Dashboard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0" y="2286000"/>
            <a:ext cx="1417320" cy="384048"/>
          </a:xfrm>
          <a:prstGeom prst="rect">
            <a:avLst/>
          </a:prstGeom>
          <a:solidFill>
            <a:srgbClr val="0A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286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8051 Assembly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06440" y="2880360"/>
            <a:ext cx="1417320" cy="384048"/>
          </a:xfrm>
          <a:prstGeom prst="rect">
            <a:avLst/>
          </a:prstGeom>
          <a:solidFill>
            <a:srgbClr val="0A0E1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28803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Backtesting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0" y="2880360"/>
            <a:ext cx="1417320" cy="384048"/>
          </a:xfrm>
          <a:prstGeom prst="rect">
            <a:avLst/>
          </a:prstGeom>
          <a:solidFill>
            <a:srgbClr val="0A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8803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Architecture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1500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Simulation + NSE Nifty 50 Validation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 — and what we set out to prove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114800" cy="82296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01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signal analysis fully dependent on massive cloud infrastructure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14800" cy="82296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6888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Intuition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physical hardware performing financial math — purely software-based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4114800" cy="82296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2900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Backtesting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21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projects never validated mathematically against real market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OBJECTIVES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interrupt-driven real-time embedded system on Arduino Mega 2560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167128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167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MPMC theory: Timer CTC, INT0, PWM, UART, Watchdog, EEPROM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825496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825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2825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UART module in pure 8051 Assembly to validate CO3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483864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83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Python dashboard with Matplotlib for hardware telemetry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142232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142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prove logic via 6-month NSE Nifty 50 backtesting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Industrial-grade 7-layer embedded architecture computing financial indicators directly on ATmega2560 in real-time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System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software-hardware co-design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640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188720"/>
            <a:ext cx="475488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887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12252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14264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LCD chars · PWM RGB color mixing · Buzzer melodies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1280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0040" y="1719072"/>
            <a:ext cx="850392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19072"/>
            <a:ext cx="640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719072"/>
            <a:ext cx="475488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71907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" y="1755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" y="19568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· External Hardware Interrupts (INT0) · Timer-driven dispatch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1810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0040" y="2249424"/>
            <a:ext cx="850392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249424"/>
            <a:ext cx="64008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249424"/>
            <a:ext cx="475488" cy="457200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24942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0976" y="2286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" y="24871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Engine (EMA + RSI + BB + MACD) on ATmega2560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23408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0040" y="2779776"/>
            <a:ext cx="850392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779776"/>
            <a:ext cx="64008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2779776"/>
            <a:ext cx="475488" cy="457200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77977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0976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0976" y="30175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UART JSON Payload over Serial @ 9600 baud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28712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20040" y="3310128"/>
            <a:ext cx="850392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310128"/>
            <a:ext cx="64008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3310128"/>
            <a:ext cx="475488" cy="457200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31012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50976" y="33467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 Layer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0976" y="3547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Brownian Motion (GBM) volatility simulator via ADC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3401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20040" y="3840480"/>
            <a:ext cx="850392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840480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3840480"/>
            <a:ext cx="475488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84048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50976" y="3877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50976" y="407822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Python Matplotlib 4-panel animation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46720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0040" y="4370832"/>
            <a:ext cx="850392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4370832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4370832"/>
            <a:ext cx="475488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37083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50976" y="4407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50976" y="46085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Backtesting Engine · Sharpe Ratio on 6-mo NSE data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44622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497" y="343300"/>
            <a:ext cx="5731510" cy="41255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212574" y="4541782"/>
            <a:ext cx="6416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i="1" dirty="0"/>
              <a:t>System block diagram detailing data flow between the ADC, MCU, and Python Host.</a:t>
            </a:r>
            <a:endParaRPr lang="en-IN" sz="1400" b="1" dirty="0"/>
          </a:p>
          <a:p>
            <a:pPr algn="ctr"/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71805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selection rationale for embedded FinTech edge computing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743200" cy="1645920"/>
          </a:xfrm>
          <a:prstGeom prst="rect">
            <a:avLst/>
          </a:prstGeom>
          <a:solidFill>
            <a:srgbClr val="1A2235"/>
          </a:solidFill>
          <a:ln w="1524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ATmega2560 · 54 GPIOs · 8KB SRAM · Multiple HW Timers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Circular buffer floating-point processing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1645920"/>
          </a:xfrm>
          <a:prstGeom prst="rect">
            <a:avLst/>
          </a:prstGeom>
          <a:solidFill>
            <a:srgbClr val="1A2235"/>
          </a:solidFill>
          <a:ln w="1524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344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16×2 (I2C)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984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Interrupt-driven UI modes · Custom 5×8 pixel chars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Trend arrows &amp; RSI bar graphs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1234440"/>
            <a:ext cx="2743200" cy="1645920"/>
          </a:xfrm>
          <a:prstGeom prst="rect">
            <a:avLst/>
          </a:prstGeom>
          <a:solidFill>
            <a:srgbClr val="1A2235"/>
          </a:solidFill>
          <a:ln w="1524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23444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Potentiometers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984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inputs A0 &amp; A1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GBM volatility + EEPROM alert thresholds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2743200" cy="1645920"/>
          </a:xfrm>
          <a:prstGeom prst="rect">
            <a:avLst/>
          </a:prstGeom>
          <a:solidFill>
            <a:srgbClr val="1A2235"/>
          </a:solidFill>
          <a:ln w="1524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632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3538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Pushbutton (INT0)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813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Pin 2 · EICRA falling-edge · 200ms debounce ISR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251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Hardware interrupt UI mode switching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3063240"/>
            <a:ext cx="2743200" cy="1645920"/>
          </a:xfrm>
          <a:prstGeom prst="rect">
            <a:avLst/>
          </a:prstGeom>
          <a:solidFill>
            <a:srgbClr val="1A2235"/>
          </a:solidFill>
          <a:ln w="1524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306324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337560" y="3538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3813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Pins 9,10,11 · Hardware Timer config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37560" y="4251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BUY=Green, OVERSOLD=Violet, HOLD=Blue-breathing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3063240"/>
            <a:ext cx="2743200" cy="1645920"/>
          </a:xfrm>
          <a:prstGeom prst="rect">
            <a:avLst/>
          </a:prstGeom>
          <a:solidFill>
            <a:srgbClr val="1A2235"/>
          </a:solidFill>
          <a:ln w="1524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0760" y="30632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217920" y="3538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3813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Multi-tone melodic frequencies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17920" y="4251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Signal alerts — not flat beeps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&amp; Indicator Mathematics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financial algorithms on an 8-bit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384048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81328"/>
            <a:ext cx="64008" cy="960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Simulator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7922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from ADC potentiometer → Geometric Brownian Motion price generation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78608"/>
            <a:ext cx="384048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78608"/>
            <a:ext cx="64008" cy="960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Buffer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8895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priceBuf[20] with modulo → no heap fragmentation on 8-bit MCU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675888"/>
            <a:ext cx="384048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75888"/>
            <a:ext cx="64008" cy="960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Vote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point accumulation across all 4 indicators → BUY / HOLD / SELL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120700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 FORMULAS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1481328"/>
            <a:ext cx="4297680" cy="749808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1481328"/>
            <a:ext cx="64008" cy="7498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270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1755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2/(N+1)   →   EMAₙ = α·Pₙ + (1-α)·EMAₙ₋₁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2322576"/>
            <a:ext cx="4297680" cy="749808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2322576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3682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RSI-14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5968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RSI = 100 − 100/(1 + AvgGain/AvgLoss)  over 14 ticks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3163824"/>
            <a:ext cx="4297680" cy="749808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80560" y="3163824"/>
            <a:ext cx="64008" cy="7498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2095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4381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SMA₂₀ + 2σ   |   Lower = SMA₂₀ − 2σ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0560" y="4005072"/>
            <a:ext cx="4297680" cy="749808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0560" y="4005072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0507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42793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MACD = EMA₁₂ − EMA₂₆   |   Signal = EMA₉(MACD)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663440"/>
            <a:ext cx="1508760" cy="246888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63440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BUY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21408" y="4663440"/>
            <a:ext cx="1508760" cy="24688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21408" y="4663440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HOLD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85616" y="4663440"/>
            <a:ext cx="1508760" cy="24688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85616" y="4663440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SELL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49824" y="4663440"/>
            <a:ext cx="1508760" cy="24688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9824" y="4663440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OVERSOLD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14032" y="4663440"/>
            <a:ext cx="1508760" cy="24688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14032" y="4663440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OVERBOUGHT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06245" y="119269"/>
            <a:ext cx="5731510" cy="473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 &amp; Syllabus Mapping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code maps to a Course Outcome (CO) — no boilerplate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8503920" cy="1115568"/>
          </a:xfrm>
          <a:prstGeom prst="rect">
            <a:avLst/>
          </a:prstGeom>
          <a:solidFill>
            <a:srgbClr val="1A2235"/>
          </a:solidFill>
          <a:ln w="1524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64008" cy="11155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1216152"/>
            <a:ext cx="685800" cy="256032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1615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3 &amp; 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121615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1 CTC + External Interrupt INT0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481328"/>
            <a:ext cx="4206240" cy="685800"/>
          </a:xfrm>
          <a:prstGeom prst="rect">
            <a:avLst/>
          </a:prstGeom>
          <a:solidFill>
            <a:srgbClr val="060A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1790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OCR1A = 15624;  // 1Hz at 16MHz, prescaler 1024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TCCR1B |= (1&lt;&lt;WGM12);   // CTC mode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TIMSK1 |= (1&lt;&lt;OCIE1A);  // Enable compare-match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ISR(INT0_vect): 200ms debounce millis() filter for button. Zero delay() calls — entirely interrupt-driven.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23160"/>
            <a:ext cx="8503920" cy="1115568"/>
          </a:xfrm>
          <a:prstGeom prst="rect">
            <a:avLst/>
          </a:prstGeom>
          <a:solidFill>
            <a:srgbClr val="1A2235"/>
          </a:solidFill>
          <a:ln w="1524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23160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468880"/>
            <a:ext cx="685800" cy="25603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4688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6 &amp; CO3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24688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8051 Assembly UART Receiver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734056"/>
            <a:ext cx="4206240" cy="685800"/>
          </a:xfrm>
          <a:prstGeom prst="rect">
            <a:avLst/>
          </a:prstGeom>
          <a:solidFill>
            <a:srgbClr val="060A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77063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TMOD, #20H    ; Timer 1 Mode 2 auto-reload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TH1,  #0FDH   ; 9600 baud rate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SCON, #50H    ; Mode 1 UART, REN=1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SETB TR1           ; Start Timer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273405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Bank switching (SETB RS0), CJNE conditional arithmetic, PSW flags — full CO3 coverage.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75888"/>
            <a:ext cx="8503920" cy="1115568"/>
          </a:xfrm>
          <a:prstGeom prst="rect">
            <a:avLst/>
          </a:prstGeom>
          <a:solidFill>
            <a:srgbClr val="1A2235"/>
          </a:solidFill>
          <a:ln w="1524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75888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721608"/>
            <a:ext cx="68580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372160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7 &amp; CO4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" y="372160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MCU Features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986784"/>
            <a:ext cx="4206240" cy="685800"/>
          </a:xfrm>
          <a:prstGeom prst="rect">
            <a:avLst/>
          </a:prstGeom>
          <a:solidFill>
            <a:srgbClr val="060A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02336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EEPROM with Magic Byte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EEPROM.write(ADDR_MAGIC, 0xAB);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Watchdog Timer — 8s reset guard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6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wdt_enable(WDTO_8S);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0600" y="398678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 persists alert thresholds across power cycles. WDT guarantees recovery if MACD calc hangs the ALU.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Results &amp; Performance Metrics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of NSE Nifty 50 (^NSEI) data — strategy vs. buy &amp; hold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011680" cy="155448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accuracy on historical NSE data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188720"/>
            <a:ext cx="2011680" cy="155448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1887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325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4688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risk-adjusted returns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2011680" cy="1554480"/>
          </a:xfrm>
          <a:prstGeom prst="rect">
            <a:avLst/>
          </a:prstGeom>
          <a:solidFill>
            <a:srgbClr val="1A2235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18872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325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6177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Window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^NSEI market data via yfinance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1188720"/>
            <a:ext cx="2011680" cy="155448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18872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325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7665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validated hardware-to-cloud pipeline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2926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COMPONENTS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246120"/>
            <a:ext cx="850392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246120"/>
            <a:ext cx="64008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backtester.py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32735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6-mo ^NSEI data via yfinance, pipes through C++ algorithm, computes Sharpe, Alpha, Beta vs. Buy &amp; Hold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666744"/>
            <a:ext cx="850392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666744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694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quant_dashboard.py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0" y="36941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4-panel real-time animation: Price + Signals · RSI-14 · Bollinger Bands · MACD histogram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087368"/>
            <a:ext cx="850392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087368"/>
            <a:ext cx="64008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114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uart_price_receiver.asm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0" y="4114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8051 Assembly validating UART Serial receive — SCON, SBUF, Timer 1 Mode 2 registers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507992"/>
            <a:ext cx="8503920" cy="347472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4507992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535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Wokwi Simulation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0" y="45354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hardware simulation: Arduino Mega, LCD, RGB LED, Buzzer, Potentiometers running live in browser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573724" y="815795"/>
            <a:ext cx="5731510" cy="30613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583" y="3962696"/>
            <a:ext cx="86254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The real-time quantdashboard.py </a:t>
            </a:r>
            <a:r>
              <a:rPr lang="en-US" b="1" i="1" dirty="0" err="1"/>
              <a:t>Matplotlib</a:t>
            </a:r>
            <a:r>
              <a:rPr lang="en-US" b="1" i="1" dirty="0"/>
              <a:t> UI simulating bidirectional UART telemetry.</a:t>
            </a:r>
            <a:endParaRPr lang="en-IN" b="1" dirty="0"/>
          </a:p>
          <a:p>
            <a:r>
              <a:rPr lang="en-US" b="1" dirty="0"/>
              <a:t> 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839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06245" y="593201"/>
            <a:ext cx="5731510" cy="3413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4571" y="4004390"/>
            <a:ext cx="72116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The output generated by our backtester.py module showing the financial validity of our embedded C++ code.</a:t>
            </a:r>
            <a:endParaRPr lang="en-IN" sz="1400" b="1" dirty="0"/>
          </a:p>
          <a:p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747307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Learning Outcomes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broke, what we fixed, and what we proved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11480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81328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on 8-bit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773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 std-dev taxed ATmega2560 ALU — solved by restricting lookback buffer to 20 periods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411480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60320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15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LCD Rendering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852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ASCII can't display financial graphs — created custom 5×8 hex arrays via lcd.createChar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411480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39312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94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UART Bridge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simulation can't use real COM ports — built --no-arduino simulation switch into Python script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2070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OUTCOMES (CO MAP)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481328"/>
            <a:ext cx="416052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481328"/>
            <a:ext cx="658368" cy="713232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8132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152704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8051 Architecture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7556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Ported UART logic to pure 8051 Assembly — SCON, SBUF, Timer 1, PSW flags, Interrupt vectors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304288"/>
            <a:ext cx="416052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304288"/>
            <a:ext cx="658368" cy="713232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30428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235000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MCU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5786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as edge-computing device: WDT, EEPROM, ADC, PWM — connected to Python frameworks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127248"/>
            <a:ext cx="416052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127248"/>
            <a:ext cx="658368" cy="713232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12724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U3/5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17296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&amp; Timers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4015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all delays with deterministic ISRs (INT0 + Timer CTC) — non-blocking execution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950208"/>
            <a:ext cx="416052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950208"/>
            <a:ext cx="658368" cy="713232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95020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HW/SW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39959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42245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+ PWM outputs validated via Matplotlib + yfinance — hardware math proven on real NSE data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6400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Project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7432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MCU proven as financial edge-computing device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27432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MPMC COs hit in a single unified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83280"/>
            <a:ext cx="27432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NSE data validated the embedded algorithm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069080"/>
            <a:ext cx="27432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↔ Hardware co-design at professional grade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663440"/>
            <a:ext cx="36576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736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Gayatri Belwalkar · Akshat Shrisant · Lucky Ansari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434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777240"/>
            <a:ext cx="4480560" cy="68580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8229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1042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+ RSI + Bollinger + MACD composite voting on ATmega2560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1591056"/>
            <a:ext cx="4480560" cy="68580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16367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1856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4-panel Matplotlib animation over bidirectional UART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2404872"/>
            <a:ext cx="4480560" cy="68580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4505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2670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NSE Nifty 50 validation — Sharpe, Alpha, Beta computed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43400" y="3218688"/>
            <a:ext cx="4480560" cy="68580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32644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8051 Assembly Module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3483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uart_price_receiver.asm — pure assembly UART, CO3 satisfied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43400" y="4032504"/>
            <a:ext cx="4480560" cy="68580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40782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Simulation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26280" y="4297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circuit running live — LCD, RGB, buzzer, dual pots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0260406-0903-07.9480213">
            <a:hlinkClick r:id="" action="ppaction://media"/>
            <a:extLst>
              <a:ext uri="{FF2B5EF4-FFF2-40B4-BE49-F238E27FC236}">
                <a16:creationId xmlns:a16="http://schemas.microsoft.com/office/drawing/2014/main" id="{EC55C2D7-F5E2-11E8-4569-04C63D8628A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1" y="330542"/>
            <a:ext cx="8721968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1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4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22adfe56-2ed5-4bdf-86a3-1e50f029556d" xsi:nil="true"/>
    <lcf76f155ced4ddcb4097134ff3c332f xmlns="22adfe56-2ed5-4bdf-86a3-1e50f029556d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09153761B15845A2840F3D37B01FB9" ma:contentTypeVersion="12" ma:contentTypeDescription="Create a new document." ma:contentTypeScope="" ma:versionID="8935c1ec8340e3d48999194ff1a1bae6">
  <xsd:schema xmlns:xsd="http://www.w3.org/2001/XMLSchema" xmlns:xs="http://www.w3.org/2001/XMLSchema" xmlns:p="http://schemas.microsoft.com/office/2006/metadata/properties" xmlns:ns2="22adfe56-2ed5-4bdf-86a3-1e50f029556d" xmlns:ns3="8aa28b7e-c5b6-4db8-be1f-ce18dc9d6788" targetNamespace="http://schemas.microsoft.com/office/2006/metadata/properties" ma:root="true" ma:fieldsID="e5873533b1ddf52a05eaa7d4ef9f4eb0" ns2:_="" ns3:_="">
    <xsd:import namespace="22adfe56-2ed5-4bdf-86a3-1e50f029556d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dfe56-2ed5-4bdf-86a3-1e50f029556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18887180-3403-4ef1-a1d0-258df4cdf662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FFDE6E-BD45-49B8-8938-14DEE33C877B}">
  <ds:schemaRefs>
    <ds:schemaRef ds:uri="http://schemas.microsoft.com/office/2006/metadata/properties"/>
    <ds:schemaRef ds:uri="http://schemas.microsoft.com/office/infopath/2007/PartnerControls"/>
    <ds:schemaRef ds:uri="22adfe56-2ed5-4bdf-86a3-1e50f029556d"/>
    <ds:schemaRef ds:uri="8aa28b7e-c5b6-4db8-be1f-ce18dc9d6788"/>
  </ds:schemaRefs>
</ds:datastoreItem>
</file>

<file path=customXml/itemProps2.xml><?xml version="1.0" encoding="utf-8"?>
<ds:datastoreItem xmlns:ds="http://schemas.openxmlformats.org/officeDocument/2006/customXml" ds:itemID="{8A9BED02-C051-411B-B6F5-19B356849A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DB1081-6513-44A4-9527-E5CDE1B497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adfe56-2ed5-4bdf-86a3-1e50f029556d"/>
    <ds:schemaRef ds:uri="8aa28b7e-c5b6-4db8-be1f-ce18dc9d67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1262</Words>
  <Application>Microsoft Office PowerPoint</Application>
  <PresentationFormat>On-screen Show (16:9)</PresentationFormat>
  <Paragraphs>220</Paragraphs>
  <Slides>14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Stock Signal System using Arduino</dc:title>
  <dc:subject>PptxGenJS Presentation</dc:subject>
  <dc:creator>PptxGenJS</dc:creator>
  <cp:lastModifiedBy>lucky ansari</cp:lastModifiedBy>
  <cp:revision>5</cp:revision>
  <dcterms:created xsi:type="dcterms:W3CDTF">2026-04-06T08:03:55Z</dcterms:created>
  <dcterms:modified xsi:type="dcterms:W3CDTF">2026-09-10T05:32:22Z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0x010100ED09153761B15845A2840F3D37B01FB9</vt:lpwstr>
  </property>
</Properties>
</file>